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INVESTOR WEBINAR  ·  WEDNESDAY 19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Don’t let August cash
leave your portfolio.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EFE4"/>
                </a:solidFill>
                <a:latin typeface="Calibri"/>
              </a:rPr>
              <a:t>Kenya’s domestic debt redemptions this month are almost double July’s.
Put maturities and coupons back to work — in a Money Market Fund or a Fixed Income Fund.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Illustrative briefing for investors  ·  Not a solicitation for any named fund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1628"/>
                </a:solidFill>
                <a:latin typeface="Georgia"/>
              </a:rPr>
              <a:t>What we will cover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8813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4A017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472184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A1628"/>
                </a:solidFill>
                <a:latin typeface="Calibri"/>
              </a:rPr>
              <a:t>August’s cash calendar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288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Which bonds are redeeming, which coupons land, and why the month is unusually large.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108813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700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4A017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15184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A1628"/>
                </a:solidFill>
                <a:latin typeface="Calibri"/>
              </a:rPr>
              <a:t>The cost of spending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9718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A compounding picture of KES 1,000,000 spent vs reinvested over 5, 10 and 15 years.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108813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130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4A017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758184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A1628"/>
                </a:solidFill>
                <a:latin typeface="Calibri"/>
              </a:rPr>
              <a:t>Two natural homes for the cash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1148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When a Money Market Fund is the right parking bay — and when a Fixed Income Fund should do the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54880"/>
            <a:ext cx="108813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560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4A017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901184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A1628"/>
                </a:solidFill>
                <a:latin typeface="Calibri"/>
              </a:rPr>
              <a:t>What to do this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2578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A simple decision path before proceeds hit the linked bank account and disappear into spending.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2  / 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August is a cash-flow month, not a quiet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6118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6118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KES 294bn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7A6D"/>
                </a:solidFill>
                <a:latin typeface="Calibri"/>
              </a:rPr>
              <a:t>Domestic debt maturing in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Almost double July’s KES 152bn of T-bill and T-bond redemptions. (SIB, citing CBK)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6118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6118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17 August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8892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7A6D"/>
                </a:solidFill>
                <a:latin typeface="Calibri"/>
              </a:rPr>
              <a:t>Two government papers redeem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204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FXD1/2016/010 matures in full. IFB1/2020/011 sits on CBK’s 17 Aug redemption calendar (scheduled amortisation).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6118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6118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Coupons + bills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8892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7A6D"/>
                </a:solidFill>
                <a:latin typeface="Calibri"/>
              </a:rPr>
              <a:t>Interest and T-bills land all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5204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Feb/August coupon bonds pay this month. Weekly T-bills redeem on 17, 24 and 31 August.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3  / 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Bonds on the August redemption calendar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Source: CBK redemption calendar and original prospectuses. Outstanding amounts vary after switches and reopenings.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881360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1627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162763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16276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What happens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392" y="16276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Coupon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2992" y="162763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Tax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993391"/>
            <a:ext cx="108813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2157984"/>
            <a:ext cx="1901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A1628"/>
                </a:solidFill>
                <a:latin typeface="Calibri"/>
              </a:rPr>
              <a:t>FXD1/2016/010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15798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10-year Treasury bond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157984"/>
            <a:ext cx="3913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Matures in full — 17 Aug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2157984"/>
            <a:ext cx="1261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15.039%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2157984"/>
            <a:ext cx="11704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10% WHT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62072"/>
            <a:ext cx="10881360" cy="868680"/>
          </a:xfrm>
          <a:prstGeom prst="rect">
            <a:avLst/>
          </a:prstGeom>
          <a:solidFill>
            <a:srgbClr val="EA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" y="3026664"/>
            <a:ext cx="1901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A1628"/>
                </a:solidFill>
                <a:latin typeface="Calibri"/>
              </a:rPr>
              <a:t>IFB1/2020/011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302666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11-year Infrastructure bond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3026664"/>
            <a:ext cx="3913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On CBK’s 17 Aug redemption list (typical 50% year-6 amortisation; original final maturity 2031)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3026664"/>
            <a:ext cx="1261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10.90%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3026664"/>
            <a:ext cx="11704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Tax-exempt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730752"/>
            <a:ext cx="108813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1" y="3895344"/>
            <a:ext cx="1901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A1628"/>
                </a:solidFill>
                <a:latin typeface="Calibri"/>
              </a:rPr>
              <a:t>Weekly T-bills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3895344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91 / 182 / 364-day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3895344"/>
            <a:ext cx="3913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Redemptions 17, 24 and 31 August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1392" y="3895344"/>
            <a:ext cx="1261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Discount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22992" y="3895344"/>
            <a:ext cx="11704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15% WHT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599431"/>
            <a:ext cx="10881360" cy="868680"/>
          </a:xfrm>
          <a:prstGeom prst="rect">
            <a:avLst/>
          </a:prstGeom>
          <a:solidFill>
            <a:srgbClr val="EA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1" y="4764023"/>
            <a:ext cx="1901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A1628"/>
                </a:solidFill>
                <a:latin typeface="Calibri"/>
              </a:rPr>
              <a:t>FXD1/2012/015 + 3 T-bills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4912" y="4764023"/>
            <a:ext cx="19933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Switch offer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4764023"/>
            <a:ext cx="3913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Optional switch into FXD4/2019/010 — bids by 24 Aug, settles 26 Aug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1392" y="4764023"/>
            <a:ext cx="1261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11.00% source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4764023"/>
            <a:ext cx="11704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A1628"/>
                </a:solidFill>
                <a:latin typeface="Calibri"/>
              </a:rPr>
              <a:t>10% WHT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4  / 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A1628"/>
                </a:solidFill>
                <a:latin typeface="Georgia"/>
              </a:rPr>
              <a:t>Coupons landing in August — even if your bond is not maturing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D4F66"/>
                </a:solidFill>
                <a:latin typeface="Calibri"/>
              </a:rPr>
              <a:t>Kenya Treasury bonds pay interest twice a year. Papers issued on a February / August cycle credit coupons this month. That cash is easy to treat as “extra” and spend. It is still capital that can compound.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108813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4A017"/>
                </a:solidFill>
                <a:latin typeface="Calibri"/>
              </a:rPr>
              <a:t>10 August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39112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A1628"/>
                </a:solidFill>
                <a:latin typeface="Calibri"/>
              </a:rPr>
              <a:t>FXD1/2021/020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04872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13.444% coupon  ·  10% WHT  ·  matures July 2041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108813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1868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4A017"/>
                </a:solidFill>
                <a:latin typeface="Calibri"/>
              </a:rPr>
              <a:t>17 August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182112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A1628"/>
                </a:solidFill>
                <a:latin typeface="Calibri"/>
              </a:rPr>
              <a:t>FXD1/2016/010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47872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Final coupon + 100% principal  ·  15.039%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108813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6168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4A017"/>
                </a:solidFill>
                <a:latin typeface="Calibri"/>
              </a:rPr>
              <a:t>Feb / Aug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325112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A1628"/>
                </a:solidFill>
                <a:latin typeface="Calibri"/>
              </a:rPr>
              <a:t>Several FXD and IFB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90872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Holders receive semi-annual interest into DhowCSD / the linked 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5  / 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What usually happens to the money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949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4A01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459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A1628"/>
                </a:solidFill>
                <a:latin typeface="Calibri"/>
              </a:rPr>
              <a:t>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CBK pays principal and coupons into DhowCSD. Cash is then available to the linked bank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3949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4A017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459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A1628"/>
                </a:solidFill>
                <a:latin typeface="Calibri"/>
              </a:rPr>
              <a:t>The quiet leak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Once it sits in a transactional account it looks like income. School fees, a trip, a new car — all reasonable, all terminal for compounding.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53949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4A017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A1628"/>
                </a:solidFill>
                <a:latin typeface="Calibri"/>
              </a:rPr>
              <a:t>Inflation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At 6.5% inflation (July 2026), cash that earns ~0–2% loses purchasing power every month it waits.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566160"/>
            <a:ext cx="53949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4A017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A1628"/>
                </a:solidFill>
                <a:latin typeface="Calibri"/>
              </a:rPr>
              <a:t>The better default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434840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Treat every redemption as a reinvestment event first. Spend only what you planned to spend — from a budget, not from a maturity.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6  / 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A1628"/>
                </a:solidFill>
                <a:latin typeface="Georgia"/>
              </a:rPr>
              <a:t>KES 1,000,000 received this August — four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D4F66"/>
                </a:solidFill>
                <a:latin typeface="Calibri"/>
              </a:rPr>
              <a:t>Illustrative only. 9% and 12% are round numbers near recent MMF / fixed-income industry averages, not a promise.</a:t>
            </a:r>
          </a:p>
        </p:txBody>
      </p:sp>
      <p:pic>
        <p:nvPicPr>
          <p:cNvPr id="8" name="Picture 7" descr="compo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1155680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7  / 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A1628"/>
                </a:solidFill>
                <a:latin typeface="Georgia"/>
              </a:rPr>
              <a:t>Same shilling. Three futures. One empty pocket.</a:t>
            </a:r>
          </a:p>
        </p:txBody>
      </p:sp>
      <p:pic>
        <p:nvPicPr>
          <p:cNvPr id="7" name="Picture 6" descr="ten_yea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766560" cy="3108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4251960"/>
            <a:ext cx="10881360" cy="3474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42976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Horizon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42976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2%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42976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MMF 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42976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FIF 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42976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Gap vs spending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99432"/>
            <a:ext cx="10881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467258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5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4672584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1.10m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672584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1.54m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4672584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1.76m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467258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1.76m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38344"/>
            <a:ext cx="10881360" cy="438912"/>
          </a:xfrm>
          <a:prstGeom prst="rect">
            <a:avLst/>
          </a:prstGeom>
          <a:solidFill>
            <a:srgbClr val="EA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" y="51114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10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5111496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1.22m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5111496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2.37m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5111496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3.11m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511149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3.11m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477256"/>
            <a:ext cx="10881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1" y="555040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15 years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5550408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1.35m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550408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3.64m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5550408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5.47m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2" y="55504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5.47m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8  / 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Why reinvest instead of spend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6118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08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A1628"/>
                </a:solidFill>
                <a:latin typeface="Calibri"/>
              </a:rPr>
              <a:t>Maturity is not a bonus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4883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The principal was already yours. Spending it shrinks the machine that was paying you 10–15% coupons.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80160"/>
            <a:ext cx="36118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508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A1628"/>
                </a:solidFill>
                <a:latin typeface="Calibri"/>
              </a:rPr>
              <a:t>Coupons are easy to hide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14883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A few hundred thousand shillings of interest does not feel like a decision. Repeated twice a year, it is the whole return.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6118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508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A1628"/>
                </a:solidFill>
                <a:latin typeface="Calibri"/>
              </a:rPr>
              <a:t>Cash is taxed by inflation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14883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6.5% inflation vs a 2% account is a 4.5% real loss. A ~9% MMF still compounds in real terms.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79"/>
            <a:ext cx="36118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8404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A1628"/>
                </a:solidFill>
                <a:latin typeface="Calibri"/>
              </a:rPr>
              <a:t>You cannot recapture skipped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48055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The steep part of the compounding curve is later. Ten idle years cannot be ‘caught up’ with one good year.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611879"/>
            <a:ext cx="36118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38404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A1628"/>
                </a:solidFill>
                <a:latin typeface="Calibri"/>
              </a:rPr>
              <a:t>Liquidity is already built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448055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You do not need to spend the bond to stay liquid. An MMF is typically T+2 to T+4 with a KES 1,000 minimum.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611879"/>
            <a:ext cx="36118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38404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A1628"/>
                </a:solidFill>
                <a:latin typeface="Calibri"/>
              </a:rPr>
              <a:t>Replace the expired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448055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FXD1/2016/010 paid 15.039%. That contract ends on 17 August. A fund puts you back into a diversified book of bills and bonds the next day.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9  / 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Two CMA-licensed homes for the proceeds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534924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349240" cy="9144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7A6D"/>
                </a:solidFill>
                <a:latin typeface="Georgia"/>
              </a:rPr>
              <a:t>Money Market Fund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Park it. Stay liquid. Beat the current account.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Holds T-bills, short bonds, call and fixed deposits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Typical industry yield ~9% gross / ~7.6% net (H1 2026 avg.)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Interest is calculated daily, paid after 15% WHT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Access usually within 2–4 working days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Best when the money may be needed inside 12 months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KES 442bn of industry MMF AUM as of March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4924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34924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017"/>
                </a:solidFill>
                <a:latin typeface="Georgia"/>
              </a:rPr>
              <a:t>Fixed Income Fund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D4F66"/>
                </a:solidFill>
                <a:latin typeface="Calibri"/>
              </a:rPr>
              <a:t>Put duration back to work. Replace the expired bond.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1460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Holds a ladder of Treasury and quality corporate bonds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Category average ~11.9% gross / ~10.1% net (June 2026)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More yield than an MMF; more price movement too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Sensible holding period: 12 months and beyond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~250 bps extra vs the MMF average in mid-2026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▸  A closer substitute for the bond that just matured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10  / 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The case for the Money Market 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D4F66"/>
                </a:solidFill>
                <a:latin typeface="Calibri"/>
              </a:rPr>
              <a:t>Use it when the August cash is a bridge — school fees in January, a property completion, or ‘I have not decided yet’.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6118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470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7A6D"/>
                </a:solidFill>
                <a:latin typeface="Calibri"/>
              </a:rPr>
              <a:t>Beats idle cash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91-day T-bills are ~8.8%. A decent MMF often matches or beats that, with daily compounding and no auction paperwork.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6118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470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7A6D"/>
                </a:solidFill>
                <a:latin typeface="Calibri"/>
              </a:rPr>
              <a:t>No need to pick a bond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You do not have to bid the 24 August switch or the next IFB. The manager already holds a book of bills and short paper.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6118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8470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7A6D"/>
                </a:solidFill>
                <a:latin typeface="Calibri"/>
              </a:rPr>
              <a:t>You stay in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Units can usually be withdrawn in a few days. That is the point: the money is working, but it is not locked.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36118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041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7A6D"/>
                </a:solidFill>
                <a:latin typeface="Calibri"/>
              </a:rPr>
              <a:t>A disciplined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572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Standing instruction: every DhowCSD credit → MMF. Spending then requires a conscious withdrawal, not an accident.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840480"/>
            <a:ext cx="36118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4041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7A6D"/>
                </a:solidFill>
                <a:latin typeface="Calibri"/>
              </a:rPr>
              <a:t>Professional cash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4572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Custodian + trustee + CMA licence. This is not a Sacco promise or a WhatsApp ‘investment’.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840480"/>
            <a:ext cx="36118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4041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7A6D"/>
                </a:solidFill>
                <a:latin typeface="Calibri"/>
              </a:rPr>
              <a:t>USD option exists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4572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4F66"/>
                </a:solidFill>
                <a:latin typeface="Calibri"/>
              </a:rPr>
              <a:t>If the proceeds are dollar-linked (or you want a USD sleeve), dollar MMFs returned ~4.3% net in H1 2026.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11  / 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The case for the Fixed Income 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D4F66"/>
                </a:solidFill>
                <a:latin typeface="Calibri"/>
              </a:rPr>
              <a:t>Use it when the August cash was long-term capital — the 10-year bond that just matured should not become a 91-day afterthought.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6118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562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Replace the expired coupon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0487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D4F66"/>
                </a:solidFill>
                <a:latin typeface="Calibri"/>
              </a:rPr>
              <a:t>FXD1/2016/010 paid 15%. New 10-year FXD paper is around 12.8%. A bond fund keeps you in that market without timing one auction.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6118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562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You get a ladder, not a single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40487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D4F66"/>
                </a:solidFill>
                <a:latin typeface="Calibri"/>
              </a:rPr>
              <a:t>One matured issue becomes a diversified book — several tenors, reopenings, and (in some funds) quality corporates.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91640"/>
            <a:ext cx="36118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8562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The extra 2–3 points compound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40487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D4F66"/>
                </a:solidFill>
                <a:latin typeface="Calibri"/>
              </a:rPr>
              <a:t>On KES 1m, 250 bps extra vs an MMF is ~KES 25,000 a year at the start — and more as the base grows.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36118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00507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Yields are still historically useful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55371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D4F66"/>
                </a:solidFill>
                <a:latin typeface="Calibri"/>
              </a:rPr>
              <a:t>CBR is 8.75%. Long bonds still clear ~12–14%. Locking duration now is how you keep income if policy rates drift lower.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840480"/>
            <a:ext cx="36118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400507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Tax-aware IFB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455371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D4F66"/>
                </a:solidFill>
                <a:latin typeface="Calibri"/>
              </a:rPr>
              <a:t>Infrastructure bonds pay coupons with no WHT. Funds that hold IFBs pass through some of that tax advantage.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840480"/>
            <a:ext cx="36118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400507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Stay invested through the switch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455371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D4F66"/>
                </a:solidFill>
                <a:latin typeface="Calibri"/>
              </a:rPr>
              <a:t>You do not have to decide by 24 August whether to switch FXD1/2012/015. The fund can hold duration for you.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12  / 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How to choose — a 60-second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881360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9304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If this is true…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289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Then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18488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28216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I may need this money within 12 months (fees, construction drawdown, emergency reserve).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Money Market Fund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31720"/>
            <a:ext cx="10881360" cy="713232"/>
          </a:xfrm>
          <a:prstGeom prst="rect">
            <a:avLst/>
          </a:prstGeom>
          <a:solidFill>
            <a:srgbClr val="EA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41448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I have not decided yet, and I refuse to leave it in the current account over the weekend.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963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Money Market Fund  (default)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44952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This was a 5–10 year bond. I still want income, and I can leave it for a year or more.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095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Fixed Income Fund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58183"/>
            <a:ext cx="10881360" cy="713232"/>
          </a:xfrm>
          <a:prstGeom prst="rect">
            <a:avLst/>
          </a:prstGeom>
          <a:solidFill>
            <a:srgbClr val="EA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67911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I want both: spend nothing, keep 30–40% liquid, put the rest back into duration.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922775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Split: MMF + Fixed Income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71416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81144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I am sitting on FXD1/2012/015 and the T-bills in the 26 August switch.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63600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Switch and/or Fixed Income Fund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84648"/>
            <a:ext cx="10881360" cy="713232"/>
          </a:xfrm>
          <a:prstGeom prst="rect">
            <a:avLst/>
          </a:prstGeom>
          <a:solidFill>
            <a:srgbClr val="EA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94376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Dollar liabilities (school fees abroad, import invoice).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349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USD Money Market sleeve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13  / 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This week’s action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10881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Mon–Tue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35331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Open DhowCSD. Note every August credit — maturity, amortisation, coupon, T-bill.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93392"/>
            <a:ext cx="10881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Before 17 Aug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5798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If FXD1/2016/010 or IFB1/2020/011 is paying you, decide MMF vs FIF before the money hits the bank.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98064"/>
            <a:ext cx="10881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92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By 24 Aug, 10:00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96265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Holders of FXD1/2012/015 and the three source T-bills: accept or ignore the switch into FXD4/2019/010.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02736"/>
            <a:ext cx="10881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039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Same day as credit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76732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Move the amount you will not spend in 90 days. Standing order into the fund beats willpower.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07408"/>
            <a:ext cx="10881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0857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Split if unsure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5720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Example: 40% MMF (near cash) + 60% Fixed Income (replace the bond). Review in 90 days.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12080"/>
            <a:ext cx="10881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13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Do not wait for ‘the next auction’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37667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Funds subscribe for you. Cash that waits for a perfect bond often becomes a school-fees withdrawal.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14  / 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A1628"/>
                </a:solidFill>
                <a:latin typeface="Georgia"/>
              </a:rPr>
              <a:t>If you remember only five things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0881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4A017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48132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August 2026 is a redemption month — KES 294bn of domestic paper is rolling 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39"/>
            <a:ext cx="10881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4A017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5000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FXD1/2016/010 matures 17 August. Coupons on the Feb/August cycle land too.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881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4A017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21868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Spending the principal ends the compounding. A 2% account is a slow version of the same mistake.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10881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4A017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08736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Default: Money Market Fund if the horizon is short. Fixed Income Fund if you are replacing a long bond.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54879"/>
            <a:ext cx="10881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3775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4A017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956047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Move the money the day it arrives. The decision is this week, not ‘after the holidays’.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August 2026  ·  Reinvesting Bond Maturities &amp; Coupons  ·  For discussion with investors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15  /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QUESTIONS  · 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We can open the fund
the same week the bond pays.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4EFE4"/>
                </a:solidFill>
                <a:latin typeface="Calibri"/>
              </a:rPr>
              <a:t>Bring your DhowCSD statement. We will map each August credit to either
a Money Market Fund, a Fixed Income Fund, or a planned withdrawal.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6A8"/>
                </a:solidFill>
                <a:latin typeface="Calibri"/>
              </a:rPr>
              <a:t>Disclaimer: This briefing is educational. It is not a prospectus, not tax advice, and not a recommendation of any named unit trust. Yields cited are industry snapshots (CBK, CMA-licensed fund tables, SIB weekly) and will change. Past returns do not predict future returns. Invest only in CMA-licensed funds. Confirm fact sheets, fees, WHT and redemption timelines with the manager before you subscribe.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